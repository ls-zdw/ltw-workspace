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12188952" cy="3108960"/>
          </a:xfrm>
          <a:prstGeom prst="rect">
            <a:avLst/>
          </a:prstGeom>
          <a:solidFill>
            <a:srgbClr val="ECF2FF"/>
          </a:solidFill>
          <a:ln w="12700">
            <a:solidFill>
              <a:srgbClr val="ECF2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安全教育培训知识库总体架构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73152" cy="219456"/>
          </a:xfrm>
          <a:prstGeom prst="rect">
            <a:avLst/>
          </a:prstGeom>
          <a:solidFill>
            <a:srgbClr val="4AB4FF"/>
          </a:solidFill>
          <a:ln w="12700">
            <a:solidFill>
              <a:srgbClr val="4AB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架构定位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6384" y="147218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围绕安全教育培训业务，形成知识汇聚、检索、应用的统一能力底座。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4937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AB8EE"/>
            </a:solidFill>
            <a:prstDash val="solid"/>
          </a:ln>
          <a:effectLst>
            <a:outerShdw sx="100000" sy="100000" kx="0" ky="0" algn="bl" rotWithShape="0" blurRad="38100" dist="50800" dir="2700000">
              <a:srgbClr val="C7D8F8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23360" y="1325880"/>
            <a:ext cx="4206240" cy="411480"/>
          </a:xfrm>
          <a:prstGeom prst="roundRect">
            <a:avLst>
              <a:gd name="adj" fmla="val 17778"/>
            </a:avLst>
          </a:prstGeom>
          <a:solidFill>
            <a:srgbClr val="F4F8FF"/>
          </a:solidFill>
          <a:ln w="12700">
            <a:solidFill>
              <a:srgbClr val="8CB3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1417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综合安全管理平台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1783080"/>
            <a:ext cx="237744" cy="411480"/>
          </a:xfrm>
          <a:prstGeom prst="chevron">
            <a:avLst/>
          </a:prstGeom>
          <a:solidFill>
            <a:srgbClr val="4AB4FF"/>
          </a:solidFill>
          <a:ln w="12700">
            <a:solidFill>
              <a:srgbClr val="4AB4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23317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4F8FF"/>
          </a:solidFill>
          <a:ln w="12700">
            <a:solidFill>
              <a:srgbClr val="8CB3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风险隐患子域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0" y="23317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4F8FF"/>
          </a:solidFill>
          <a:ln w="12700">
            <a:solidFill>
              <a:srgbClr val="8CB3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应急管理子域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49440" y="233172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4F8FF"/>
          </a:solidFill>
          <a:ln w="12700">
            <a:solidFill>
              <a:srgbClr val="8CB3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42316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公共安全子域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3063240"/>
            <a:ext cx="7132320" cy="658368"/>
          </a:xfrm>
          <a:prstGeom prst="roundRect">
            <a:avLst>
              <a:gd name="adj" fmla="val 13889"/>
            </a:avLst>
          </a:prstGeom>
          <a:solidFill>
            <a:srgbClr val="1F63D8"/>
          </a:solidFill>
          <a:ln w="12700">
            <a:solidFill>
              <a:srgbClr val="1F6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3218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三方经验知识沉淀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468880" y="3977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统一平台接入、分域建设、底层知识复用，支撑培训全链路业务。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49040"/>
            <a:ext cx="12188952" cy="3108960"/>
          </a:xfrm>
          <a:prstGeom prst="rect">
            <a:avLst/>
          </a:prstGeom>
          <a:solidFill>
            <a:srgbClr val="ECF2FF"/>
          </a:solidFill>
          <a:ln w="12700">
            <a:solidFill>
              <a:srgbClr val="ECF2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安全教育培训知识库数据来源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307592"/>
            <a:ext cx="73152" cy="219456"/>
          </a:xfrm>
          <a:prstGeom prst="rect">
            <a:avLst/>
          </a:prstGeom>
          <a:solidFill>
            <a:srgbClr val="4AB4FF"/>
          </a:solidFill>
          <a:ln w="12700">
            <a:solidFill>
              <a:srgbClr val="4AB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多源数据汇聚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0664" y="156362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沉淀培训过程中的风险案例、事故案例与制度文档，形成统一知识资产。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862072"/>
            <a:ext cx="73152" cy="219456"/>
          </a:xfrm>
          <a:prstGeom prst="rect">
            <a:avLst/>
          </a:prstGeom>
          <a:solidFill>
            <a:srgbClr val="4AB4FF"/>
          </a:solidFill>
          <a:ln w="12700">
            <a:solidFill>
              <a:srgbClr val="4AB4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数据接入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" y="311810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通过标准接口、批量导入、人工维护等方式持续更新知识内容。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2103120"/>
            <a:ext cx="5669280" cy="1005840"/>
          </a:xfrm>
          <a:prstGeom prst="roundRect">
            <a:avLst/>
          </a:prstGeom>
          <a:solidFill>
            <a:srgbClr val="1F63D8"/>
          </a:solidFill>
          <a:ln w="12700">
            <a:solidFill>
              <a:srgbClr val="1F6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239572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794760" y="1325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F4F8FF"/>
          </a:solidFill>
          <a:ln w="12700">
            <a:solidFill>
              <a:srgbClr val="8CB3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4173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风险隐患案例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0" y="1325880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F4F8FF"/>
          </a:solidFill>
          <a:ln w="12700">
            <a:solidFill>
              <a:srgbClr val="8CB3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41732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事故事件案例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8280" y="123444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F4F8FF"/>
          </a:solidFill>
          <a:ln w="12700">
            <a:solidFill>
              <a:srgbClr val="8CB3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828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风险经验库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98280" y="196596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F4F8FF"/>
          </a:solidFill>
          <a:ln w="12700">
            <a:solidFill>
              <a:srgbClr val="8CB3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事故事件库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98280" y="269748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F4F8FF"/>
          </a:solidFill>
          <a:ln w="12700">
            <a:solidFill>
              <a:srgbClr val="8CB3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2788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隐患决策库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1856232"/>
            <a:ext cx="0" cy="237744"/>
          </a:xfrm>
          <a:prstGeom prst="line">
            <a:avLst/>
          </a:prstGeom>
          <a:noFill/>
          <a:ln w="12700">
            <a:solidFill>
              <a:srgbClr val="BFD3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856232"/>
            <a:ext cx="0" cy="237744"/>
          </a:xfrm>
          <a:prstGeom prst="line">
            <a:avLst/>
          </a:prstGeom>
          <a:noFill/>
          <a:ln w="12700">
            <a:solidFill>
              <a:srgbClr val="BFD3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2606040"/>
            <a:ext cx="256032" cy="0"/>
          </a:xfrm>
          <a:prstGeom prst="line">
            <a:avLst/>
          </a:prstGeom>
          <a:noFill/>
          <a:ln w="12700">
            <a:solidFill>
              <a:srgbClr val="BFD3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4206240"/>
            <a:ext cx="7498080" cy="594360"/>
          </a:xfrm>
          <a:prstGeom prst="roundRect">
            <a:avLst>
              <a:gd name="adj" fmla="val 7692"/>
            </a:avLst>
          </a:prstGeom>
          <a:solidFill>
            <a:srgbClr val="F8FBFF"/>
          </a:solidFill>
          <a:ln w="12700">
            <a:solidFill>
              <a:srgbClr val="D6E3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389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子域整合：培训知识沉淀到集团统一知识平台，支撑跨业务、跨场景复用。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D98">
              <a:alpha val="75000"/>
            </a:srgbClr>
          </a:solidFill>
          <a:ln w="12700">
            <a:solidFill>
              <a:srgbClr val="0C3D9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安全教育培训知识库核心功能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44752"/>
            <a:ext cx="73152" cy="219456"/>
          </a:xfrm>
          <a:prstGeom prst="rect">
            <a:avLst/>
          </a:prstGeom>
          <a:solidFill>
            <a:srgbClr val="4AB4FF"/>
          </a:solidFill>
          <a:ln w="12700">
            <a:solidFill>
              <a:srgbClr val="4AB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培训内容中心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0664" y="170078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DC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面向培训策划、课程组织、经验复盘的统一内容支撑。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1508760"/>
            <a:ext cx="6217920" cy="786384"/>
          </a:xfrm>
          <a:prstGeom prst="roundRect">
            <a:avLst>
              <a:gd name="adj" fmla="val 9302"/>
            </a:avLst>
          </a:prstGeom>
          <a:solidFill>
            <a:srgbClr val="EFF4FF"/>
          </a:solidFill>
          <a:ln w="12700">
            <a:solidFill>
              <a:srgbClr val="6B8E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76479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资源对接    ·    安全教育培训知识库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24612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6B8E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资源归集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7947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将外部与内部资料按主题标准化入库。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324612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6B8E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资源检索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9272" y="37947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支持关键词、标签与场景组合查询。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324612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6B8E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86984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资源推荐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86984" y="37947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结合岗位与课程自动推荐相关资料。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17536" y="324612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6B8E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54696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资源讲解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54696" y="37947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将案例沉淀为可讲授的培训单元。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985248" y="3246120"/>
            <a:ext cx="2148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6B8E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22408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资源调用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122408" y="37947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在培训计划、课程、考试中直接调用。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3D98">
              <a:alpha val="75000"/>
            </a:srgbClr>
          </a:solidFill>
          <a:ln w="12700">
            <a:solidFill>
              <a:srgbClr val="0C3D9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安全教育培训知识库在培训业务中的作用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44752"/>
            <a:ext cx="73152" cy="219456"/>
          </a:xfrm>
          <a:prstGeom prst="rect">
            <a:avLst/>
          </a:prstGeom>
          <a:solidFill>
            <a:srgbClr val="4AB4FF"/>
          </a:solidFill>
          <a:ln w="12700">
            <a:solidFill>
              <a:srgbClr val="4AB4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0664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统一能力来源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0664" y="170078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DCE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以知识驱动培训计划、组织实施、效果评估闭环提升。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6720840" cy="3794760"/>
          </a:xfrm>
          <a:prstGeom prst="roundRect">
            <a:avLst>
              <a:gd name="adj" fmla="val 1928"/>
            </a:avLst>
          </a:prstGeom>
          <a:solidFill>
            <a:srgbClr val="F5F9FF"/>
          </a:solidFill>
          <a:ln w="12700">
            <a:solidFill>
              <a:srgbClr val="6B8E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6459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2439F"/>
          </a:solidFill>
          <a:ln w="12700">
            <a:solidFill>
              <a:srgbClr val="5E8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242316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87D9FF"/>
          </a:solidFill>
          <a:ln w="12700">
            <a:solidFill>
              <a:srgbClr val="67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5786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0D2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培训计划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42316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87D9FF"/>
          </a:solidFill>
          <a:ln w="12700">
            <a:solidFill>
              <a:srgbClr val="67A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5786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0D2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线上培训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242316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87D9FF"/>
          </a:solidFill>
          <a:ln w="12700">
            <a:solidFill>
              <a:srgbClr val="67A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5786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0D2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班组活动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0" y="2423160"/>
            <a:ext cx="1325880" cy="475488"/>
          </a:xfrm>
          <a:prstGeom prst="roundRect">
            <a:avLst>
              <a:gd name="adj" fmla="val 11538"/>
            </a:avLst>
          </a:prstGeom>
          <a:solidFill>
            <a:srgbClr val="F8D477"/>
          </a:solidFill>
          <a:ln w="12700">
            <a:solidFill>
              <a:srgbClr val="67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25786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0D2B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培训考试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60520" y="315468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1F63D8"/>
          </a:solidFill>
          <a:ln w="12700">
            <a:solidFill>
              <a:srgbClr val="1F6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3429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安全教育培训知识库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784080" y="1645920"/>
            <a:ext cx="19659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6B8E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178308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快速策划知识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21240" y="20299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经验知识可复用，提升策划效率与规范性。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784080" y="2779776"/>
            <a:ext cx="19659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6B8E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2916936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提升培训质量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21240" y="31638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课程与案例精准匹配岗位需求。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784080" y="3913632"/>
            <a:ext cx="19659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6B8E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21240" y="4050792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A3D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实现知识沉淀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21240" y="4297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C62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培训结果持续回流，形成企业知识资产。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PCITC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安全教育培训知识库方案</dc:title>
  <dc:subject>安全教育培训知识库</dc:subject>
  <dc:creator>Codex</dc:creator>
  <cp:lastModifiedBy>Codex</cp:lastModifiedBy>
  <cp:revision>1</cp:revision>
  <dcterms:created xsi:type="dcterms:W3CDTF">2026-03-11T02:58:29Z</dcterms:created>
  <dcterms:modified xsi:type="dcterms:W3CDTF">2026-03-11T02:58:29Z</dcterms:modified>
</cp:coreProperties>
</file>