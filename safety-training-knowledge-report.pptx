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82880"/>
            <a:ext cx="11789359" cy="6492240"/>
          </a:xfrm>
          <a:prstGeom prst="roundRect">
            <a:avLst>
              <a:gd name="adj" fmla="val 1127"/>
            </a:avLst>
          </a:prstGeom>
          <a:solidFill>
            <a:srgbClr val="F9FC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25400" dist="50800" dir="2700000">
              <a:srgbClr val="1A3E7C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22960" y="384048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D3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安全教育培训知识库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5840" y="841248"/>
            <a:ext cx="101800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5B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整合跨子域安全知识资源，构建统一培训素材中心，为培训计划、线上培训、考试和班组安全活动提供内容支撑。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64008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63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734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定位概括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1773936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5B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安全教育培训知识库是教育培训子域内的核心内容资源平台，面向培训业务统一整合风险隐患、事故事件、应急预案与自然灾害防范等安全知识内容。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898648"/>
            <a:ext cx="64008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880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734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建设目标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3191256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5B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通过“统一展示、统一检索、统一引用”的方式，提升培训内容质量，降低资料分散管理成本，促进安全知识沉淀与复用。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417320"/>
            <a:ext cx="8275320" cy="4069080"/>
          </a:xfrm>
          <a:prstGeom prst="roundRect">
            <a:avLst>
              <a:gd name="adj" fmla="val 1798"/>
            </a:avLst>
          </a:prstGeom>
          <a:solidFill>
            <a:srgbClr val="F6FAFF"/>
          </a:solidFill>
          <a:ln w="12700">
            <a:solidFill>
              <a:srgbClr val="D8E3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83480" y="1755648"/>
            <a:ext cx="4480560" cy="658368"/>
          </a:xfrm>
          <a:prstGeom prst="roundRect">
            <a:avLst>
              <a:gd name="adj" fmla="val 9722"/>
            </a:avLst>
          </a:prstGeom>
          <a:solidFill>
            <a:srgbClr val="1B57CE"/>
          </a:solidFill>
          <a:ln w="12700">
            <a:solidFill>
              <a:srgbClr val="1B57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956816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综合安全管理平台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913632" y="2761488"/>
            <a:ext cx="208483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13632" y="2962656"/>
            <a:ext cx="20848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1734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风险隐患子域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9632" y="2761488"/>
            <a:ext cx="208483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2962656"/>
            <a:ext cx="20848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1734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应急管理子域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85632" y="2761488"/>
            <a:ext cx="208483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85632" y="2962656"/>
            <a:ext cx="20848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1734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公共安全子域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977640" y="3822192"/>
            <a:ext cx="6812280" cy="749808"/>
          </a:xfrm>
          <a:prstGeom prst="roundRect">
            <a:avLst>
              <a:gd name="adj" fmla="val 9756"/>
            </a:avLst>
          </a:prstGeom>
          <a:solidFill>
            <a:srgbClr val="0E377F"/>
          </a:solidFill>
          <a:ln w="12700">
            <a:solidFill>
              <a:srgbClr val="0E377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77640" y="4069080"/>
            <a:ext cx="6812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安全教育培训知识库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82880"/>
            <a:ext cx="11789359" cy="6492240"/>
          </a:xfrm>
          <a:prstGeom prst="roundRect">
            <a:avLst>
              <a:gd name="adj" fmla="val 1127"/>
            </a:avLst>
          </a:prstGeom>
          <a:solidFill>
            <a:srgbClr val="F9FC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25400" dist="50800" dir="2700000">
              <a:srgbClr val="1A3E7C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22960" y="384048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D3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安全教育培训知识库数据来源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5840" y="841248"/>
            <a:ext cx="101800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5B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知识库来源于综合安全平台多个子域，通过索引和引用方式形成统一培训知识视图，而不是重复维护源数据。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64008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447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734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多来源数据汇聚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1755648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5B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安全教育培训知识库不是孤立而完整的知识系统，而是对各安全子域知识资源的统一承接与聚合。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944368"/>
            <a:ext cx="64008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734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统一资源展示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3236976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5B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将分散在不同子域中的隐患案例、事故案例、应急预案、防灾知识统一纳入培训素材中心，形成可共享的资源视图。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37160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9FCFF"/>
          </a:solidFill>
          <a:ln w="12700">
            <a:solidFill>
              <a:srgbClr val="D8E3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1783080"/>
            <a:ext cx="18288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23560" y="1783080"/>
            <a:ext cx="18288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86200" y="2148840"/>
            <a:ext cx="1371600" cy="493776"/>
          </a:xfrm>
          <a:prstGeom prst="roundRect">
            <a:avLst>
              <a:gd name="adj" fmla="val 11111"/>
            </a:avLst>
          </a:prstGeom>
          <a:solidFill>
            <a:srgbClr val="4F97FF"/>
          </a:solidFill>
          <a:ln w="12700">
            <a:solidFill>
              <a:srgbClr val="4F97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2148840"/>
            <a:ext cx="1371600" cy="493776"/>
          </a:xfrm>
          <a:prstGeom prst="roundRect">
            <a:avLst>
              <a:gd name="adj" fmla="val 11111"/>
            </a:avLst>
          </a:prstGeom>
          <a:solidFill>
            <a:srgbClr val="4F97FF"/>
          </a:solidFill>
          <a:ln w="12700">
            <a:solidFill>
              <a:srgbClr val="4F97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18745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1734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风险隐患案例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23560" y="18745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1734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事故事件案例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977640" y="3246120"/>
            <a:ext cx="4069080" cy="914400"/>
          </a:xfrm>
          <a:prstGeom prst="roundRect">
            <a:avLst>
              <a:gd name="adj" fmla="val 22000"/>
            </a:avLst>
          </a:prstGeom>
          <a:solidFill>
            <a:srgbClr val="103E95"/>
          </a:solidFill>
          <a:ln w="12700">
            <a:solidFill>
              <a:srgbClr val="103E9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3566160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安全教育培训知识库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703320" y="4443984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45811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1734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子域整合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887968" y="1481328"/>
            <a:ext cx="26060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25128" y="1627632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734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风险隐患案例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025128" y="184708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风险隐患子域中的风险隐患清单，可沉淀为典型隐患案例，服务风险辨识与隐患排查培训。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8887968" y="2715768"/>
            <a:ext cx="26060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25128" y="2862072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734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事故事件案例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025128" y="308152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应急管理子域中的事故事件分享，可作为事故警示教育和经验总结的重要案例来源。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8887968" y="3950208"/>
            <a:ext cx="26060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25128" y="4096512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734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应急预案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025128" y="431596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应急管理子域中的应急预案，可作为应急培训、预案学习和演练教学的内容基础。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3246120" y="5632704"/>
            <a:ext cx="8247888" cy="512064"/>
          </a:xfrm>
          <a:prstGeom prst="roundRect">
            <a:avLst>
              <a:gd name="adj" fmla="val 8929"/>
            </a:avLst>
          </a:prstGeom>
          <a:solidFill>
            <a:srgbClr val="EEF5FF"/>
          </a:solidFill>
          <a:ln w="12700">
            <a:solidFill>
              <a:srgbClr val="D6E3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29000" y="580644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4255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知识库通过资源汇聚与索引整合各安全子域内容，形成统一的培训案例、演练素材与知识底座。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82880"/>
            <a:ext cx="11789359" cy="6492240"/>
          </a:xfrm>
          <a:prstGeom prst="roundRect">
            <a:avLst>
              <a:gd name="adj" fmla="val 1127"/>
            </a:avLst>
          </a:prstGeom>
          <a:solidFill>
            <a:srgbClr val="123D93"/>
          </a:solidFill>
          <a:ln w="12700">
            <a:solidFill>
              <a:srgbClr val="1E4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84048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安全教育培训知识库核心功能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5840" y="841248"/>
            <a:ext cx="101800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D8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通过培训内容中心的能力建设，形成资源浏览、资源检索、资源详情与资源引用的完整功能闭环。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618488"/>
            <a:ext cx="64008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培训内容中心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1911096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DC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安全教育培训知识库是培训内容管理中心，承接跨子域的安全知识资源，为培训组织、实施与考核提供内容基础。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600200"/>
            <a:ext cx="8046720" cy="4526280"/>
          </a:xfrm>
          <a:prstGeom prst="roundRect">
            <a:avLst>
              <a:gd name="adj" fmla="val 1616"/>
            </a:avLst>
          </a:prstGeom>
          <a:solidFill>
            <a:srgbClr val="1A4A9E"/>
          </a:solidFill>
          <a:ln w="12700">
            <a:solidFill>
              <a:srgbClr val="2B64B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94760" y="1965960"/>
            <a:ext cx="7040880" cy="676656"/>
          </a:xfrm>
          <a:prstGeom prst="roundRect">
            <a:avLst>
              <a:gd name="adj" fmla="val 8108"/>
            </a:avLst>
          </a:prstGeom>
          <a:solidFill>
            <a:srgbClr val="EEF5FF"/>
          </a:solidFill>
          <a:ln w="12700">
            <a:solidFill>
              <a:srgbClr val="CFE0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2039112"/>
            <a:ext cx="914400" cy="530352"/>
          </a:xfrm>
          <a:prstGeom prst="roundRect">
            <a:avLst>
              <a:gd name="adj" fmla="val 10345"/>
            </a:avLst>
          </a:prstGeom>
          <a:solidFill>
            <a:srgbClr val="2A69E0"/>
          </a:solidFill>
          <a:ln w="12700">
            <a:solidFill>
              <a:srgbClr val="2A69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2176272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1734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安全教育培训知识库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11880" y="3127248"/>
            <a:ext cx="1783080" cy="2331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5E3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3355848"/>
            <a:ext cx="512064" cy="512064"/>
          </a:xfrm>
          <a:prstGeom prst="roundRect">
            <a:avLst>
              <a:gd name="adj" fmla="val 8929"/>
            </a:avLst>
          </a:prstGeom>
          <a:solidFill>
            <a:srgbClr val="1B57CE"/>
          </a:solidFill>
          <a:ln w="12700">
            <a:solidFill>
              <a:srgbClr val="1B57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397764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1734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资源浏览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776472" y="4242816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5B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按分类展示知识资源，方便快速定位典型案例和培训素材。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32120" y="3127248"/>
            <a:ext cx="1783080" cy="2331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5E3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3355848"/>
            <a:ext cx="512064" cy="512064"/>
          </a:xfrm>
          <a:prstGeom prst="roundRect">
            <a:avLst>
              <a:gd name="adj" fmla="val 8929"/>
            </a:avLst>
          </a:prstGeom>
          <a:solidFill>
            <a:srgbClr val="1B57CE"/>
          </a:solidFill>
          <a:ln w="12700">
            <a:solidFill>
              <a:srgbClr val="1B57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397764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1734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资源检索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96712" y="4242816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5B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支持关键字、分类、来源等多维度搜索能力。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52360" y="3127248"/>
            <a:ext cx="1783080" cy="2331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5E3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92440" y="3355848"/>
            <a:ext cx="512064" cy="512064"/>
          </a:xfrm>
          <a:prstGeom prst="roundRect">
            <a:avLst>
              <a:gd name="adj" fmla="val 8929"/>
            </a:avLst>
          </a:prstGeom>
          <a:solidFill>
            <a:srgbClr val="1B57CE"/>
          </a:solidFill>
          <a:ln w="12700">
            <a:solidFill>
              <a:srgbClr val="1B57C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5240" y="397764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1734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资源详情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616952" y="4242816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5B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展示知识内容、附件、视频、来源说明及关联信息。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372600" y="3127248"/>
            <a:ext cx="1783080" cy="2331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5E3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12680" y="3355848"/>
            <a:ext cx="512064" cy="512064"/>
          </a:xfrm>
          <a:prstGeom prst="roundRect">
            <a:avLst>
              <a:gd name="adj" fmla="val 8929"/>
            </a:avLst>
          </a:prstGeom>
          <a:solidFill>
            <a:srgbClr val="1B57CE"/>
          </a:solidFill>
          <a:ln w="12700">
            <a:solidFill>
              <a:srgbClr val="1B57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55480" y="397764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1734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资源引用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537192" y="4242816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5B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为培训计划、活动与考试提供直接引用能力。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82880"/>
            <a:ext cx="11789359" cy="6492240"/>
          </a:xfrm>
          <a:prstGeom prst="roundRect">
            <a:avLst>
              <a:gd name="adj" fmla="val 1127"/>
            </a:avLst>
          </a:prstGeom>
          <a:solidFill>
            <a:srgbClr val="123D93"/>
          </a:solidFill>
          <a:ln w="12700">
            <a:solidFill>
              <a:srgbClr val="1E4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84048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安全教育培训知识库在培训业务中的作用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5840" y="841248"/>
            <a:ext cx="101800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D8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知识库面向培训业务提供统一素材来源，串联培训计划、课程组织、班组活动及培训档案形成全过程支撑。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508760"/>
            <a:ext cx="2148840" cy="530352"/>
          </a:xfrm>
          <a:prstGeom prst="roundRect">
            <a:avLst>
              <a:gd name="adj" fmla="val 8621"/>
            </a:avLst>
          </a:prstGeom>
          <a:solidFill>
            <a:srgbClr val="2A4F92"/>
          </a:solidFill>
          <a:ln w="12700">
            <a:solidFill>
              <a:srgbClr val="3D68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6916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培训课程库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58368" y="2148840"/>
            <a:ext cx="2148840" cy="530352"/>
          </a:xfrm>
          <a:prstGeom prst="roundRect">
            <a:avLst>
              <a:gd name="adj" fmla="val 8621"/>
            </a:avLst>
          </a:prstGeom>
          <a:solidFill>
            <a:srgbClr val="2A4F92"/>
          </a:solidFill>
          <a:ln w="12700">
            <a:solidFill>
              <a:srgbClr val="3D68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33172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安全知识库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2788920"/>
            <a:ext cx="2148840" cy="530352"/>
          </a:xfrm>
          <a:prstGeom prst="roundRect">
            <a:avLst>
              <a:gd name="adj" fmla="val 8621"/>
            </a:avLst>
          </a:prstGeom>
          <a:solidFill>
            <a:srgbClr val="2A4F92"/>
          </a:solidFill>
          <a:ln w="12700">
            <a:solidFill>
              <a:srgbClr val="3D68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97180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事故案例库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" y="3429000"/>
            <a:ext cx="2148840" cy="530352"/>
          </a:xfrm>
          <a:prstGeom prst="roundRect">
            <a:avLst>
              <a:gd name="adj" fmla="val 8621"/>
            </a:avLst>
          </a:prstGeom>
          <a:solidFill>
            <a:srgbClr val="2A4F92"/>
          </a:solidFill>
          <a:ln w="12700">
            <a:solidFill>
              <a:srgbClr val="3D68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61188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隐患清单库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" y="4069080"/>
            <a:ext cx="2148840" cy="530352"/>
          </a:xfrm>
          <a:prstGeom prst="roundRect">
            <a:avLst>
              <a:gd name="adj" fmla="val 8621"/>
            </a:avLst>
          </a:prstGeom>
          <a:solidFill>
            <a:srgbClr val="2A4F92"/>
          </a:solidFill>
          <a:ln w="12700">
            <a:solidFill>
              <a:srgbClr val="3D68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2519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预案库 / 防灾库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71800" y="1417320"/>
            <a:ext cx="6355080" cy="4480560"/>
          </a:xfrm>
          <a:prstGeom prst="roundRect">
            <a:avLst>
              <a:gd name="adj" fmla="val 1837"/>
            </a:avLst>
          </a:prstGeom>
          <a:solidFill>
            <a:srgbClr val="F3F8FF"/>
          </a:solidFill>
          <a:ln w="12700">
            <a:solidFill>
              <a:srgbClr val="D5E3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783080"/>
            <a:ext cx="1325880" cy="530352"/>
          </a:xfrm>
          <a:prstGeom prst="roundRect">
            <a:avLst>
              <a:gd name="adj" fmla="val 8621"/>
            </a:avLst>
          </a:prstGeom>
          <a:solidFill>
            <a:srgbClr val="5CB9E8"/>
          </a:solidFill>
          <a:ln w="12700">
            <a:solidFill>
              <a:srgbClr val="3297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97510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培训计划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27448" y="1783080"/>
            <a:ext cx="1325880" cy="530352"/>
          </a:xfrm>
          <a:prstGeom prst="roundRect">
            <a:avLst>
              <a:gd name="adj" fmla="val 8621"/>
            </a:avLst>
          </a:prstGeom>
          <a:solidFill>
            <a:srgbClr val="5CB9E8"/>
          </a:solidFill>
          <a:ln w="12700">
            <a:solidFill>
              <a:srgbClr val="3297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27448" y="197510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线上培训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08776" y="1783080"/>
            <a:ext cx="1325880" cy="530352"/>
          </a:xfrm>
          <a:prstGeom prst="roundRect">
            <a:avLst>
              <a:gd name="adj" fmla="val 8621"/>
            </a:avLst>
          </a:prstGeom>
          <a:solidFill>
            <a:srgbClr val="5CB9E8"/>
          </a:solidFill>
          <a:ln w="12700">
            <a:solidFill>
              <a:srgbClr val="3297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08776" y="197510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班组活动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690104" y="1783080"/>
            <a:ext cx="1325880" cy="530352"/>
          </a:xfrm>
          <a:prstGeom prst="roundRect">
            <a:avLst>
              <a:gd name="adj" fmla="val 8621"/>
            </a:avLst>
          </a:prstGeom>
          <a:solidFill>
            <a:srgbClr val="E7BF58"/>
          </a:solidFill>
          <a:ln w="12700">
            <a:solidFill>
              <a:srgbClr val="C796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90104" y="197510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培训考试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34840" y="3063240"/>
            <a:ext cx="3429000" cy="914400"/>
          </a:xfrm>
          <a:prstGeom prst="roundRect">
            <a:avLst>
              <a:gd name="adj" fmla="val 20000"/>
            </a:avLst>
          </a:prstGeom>
          <a:solidFill>
            <a:srgbClr val="103E95"/>
          </a:solidFill>
          <a:ln w="12700">
            <a:solidFill>
              <a:srgbClr val="103E9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338328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安全教育培训知识库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464040" y="1508760"/>
            <a:ext cx="21031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28632" y="16916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734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装造培训知识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28632" y="192024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为培训计划与课程建设提供统一案例、教材和预案素材来源。</a:t>
            </a:r>
            <a:endParaRPr lang="en-US" sz="910" dirty="0"/>
          </a:p>
        </p:txBody>
      </p:sp>
      <p:sp>
        <p:nvSpPr>
          <p:cNvPr id="29" name="Shape 27"/>
          <p:cNvSpPr/>
          <p:nvPr/>
        </p:nvSpPr>
        <p:spPr>
          <a:xfrm>
            <a:off x="9464040" y="2898648"/>
            <a:ext cx="21031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28632" y="3081528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734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再生培训履历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28632" y="3310128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通过知识资源的引用，形成培训内容与培训记录的对应关系。</a:t>
            </a:r>
            <a:endParaRPr lang="en-US" sz="910" dirty="0"/>
          </a:p>
        </p:txBody>
      </p:sp>
      <p:sp>
        <p:nvSpPr>
          <p:cNvPr id="32" name="Shape 30"/>
          <p:cNvSpPr/>
          <p:nvPr/>
        </p:nvSpPr>
        <p:spPr>
          <a:xfrm>
            <a:off x="9464040" y="4288536"/>
            <a:ext cx="21031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28632" y="4471416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734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实现知识沉淀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28632" y="4700016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5B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沉淀企业安全案例、经验与培训成果，形成长期可复用的知识资产。</a:t>
            </a:r>
            <a:endParaRPr lang="en-US" sz="9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82880"/>
            <a:ext cx="11789359" cy="6492240"/>
          </a:xfrm>
          <a:prstGeom prst="roundRect">
            <a:avLst>
              <a:gd name="adj" fmla="val 1127"/>
            </a:avLst>
          </a:prstGeom>
          <a:solidFill>
            <a:srgbClr val="F9FC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25400" dist="50800" dir="2700000">
              <a:srgbClr val="1A3E7C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22960" y="384048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D3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建设价值与治理原则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5840" y="841248"/>
            <a:ext cx="101800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5B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安全教育培训知识库不仅要解决内容汇聚问题，也要确保来源清晰、责任明确、维护口径统一。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44068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E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62472" y="1417320"/>
            <a:ext cx="544068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E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1907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734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单一数据源原则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4937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5B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风险隐患清单由风险隐患子域维护，事故事件分享与应急预案由应急管理子域维护，自然灾害防范由公共安全子域维护。知识库不复制源数据，只负责统一展示、检索和引用。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91072" y="171907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734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资源引用原则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91072" y="2057400"/>
            <a:ext cx="4937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5B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培训业务通过引用知识库中的资源索引使用内容，而不是重新复制维护一份资料。这样可以保持版本一致、更新同步，并减少跨子域重复建设。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5120640"/>
            <a:ext cx="10817352" cy="914400"/>
          </a:xfrm>
          <a:prstGeom prst="roundRect">
            <a:avLst>
              <a:gd name="adj" fmla="val 6000"/>
            </a:avLst>
          </a:prstGeom>
          <a:solidFill>
            <a:srgbClr val="EEF5FF"/>
          </a:solidFill>
          <a:ln w="12700">
            <a:solidFill>
              <a:srgbClr val="D6E3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44068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4255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建设价值：统一培训知识入口、支撑培训计划与课程建设、提升培训内容质量、实现资源共享、促进企业安全知识沉淀。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PCITC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安全教育培训知识库 - 汇报版</dc:title>
  <dc:subject>安全教育培训知识库</dc:subject>
  <dc:creator>Codex</dc:creator>
  <cp:lastModifiedBy>Codex</cp:lastModifiedBy>
  <cp:revision>1</cp:revision>
  <dcterms:created xsi:type="dcterms:W3CDTF">2026-03-11T03:04:31Z</dcterms:created>
  <dcterms:modified xsi:type="dcterms:W3CDTF">2026-03-11T03:04:31Z</dcterms:modified>
</cp:coreProperties>
</file>