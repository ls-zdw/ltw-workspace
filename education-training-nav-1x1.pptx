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68" y="82296"/>
            <a:ext cx="73150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教育培训管理导航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84858" y="116586"/>
            <a:ext cx="121917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4654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7668" y="582930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52" y="665226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总部级培训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658352" y="82296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计划/反馈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658352" y="966978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58352" y="1145286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计划通知: 5 | 培训反馈: 7</a:t>
            </a:r>
            <a:endParaRPr lang="en-US" sz="488" dirty="0"/>
          </a:p>
        </p:txBody>
      </p:sp>
      <p:sp>
        <p:nvSpPr>
          <p:cNvPr id="11" name="Shape 9"/>
          <p:cNvSpPr/>
          <p:nvPr/>
        </p:nvSpPr>
        <p:spPr>
          <a:xfrm>
            <a:off x="658352" y="1282446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02" y="1296162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待阅通知: 2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1863623" y="1282446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545" y="1296162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待接收反馈: 3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3377100" y="582930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783" y="665226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企业级培训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547783" y="82296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计划/记录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3547783" y="966978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25 | 记录 28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547783" y="1145286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企业年度: 10 | 企业临时: 15</a:t>
            </a:r>
            <a:endParaRPr lang="en-US" sz="488" dirty="0"/>
          </a:p>
        </p:txBody>
      </p:sp>
      <p:sp>
        <p:nvSpPr>
          <p:cNvPr id="20" name="Shape 18"/>
          <p:cNvSpPr/>
          <p:nvPr/>
        </p:nvSpPr>
        <p:spPr>
          <a:xfrm>
            <a:off x="3547783" y="1282446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0933" y="1296162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进行中计划: 3</a:t>
            </a:r>
            <a:endParaRPr lang="en-US" sz="450" dirty="0"/>
          </a:p>
        </p:txBody>
      </p:sp>
      <p:sp>
        <p:nvSpPr>
          <p:cNvPr id="22" name="Shape 20"/>
          <p:cNvSpPr/>
          <p:nvPr/>
        </p:nvSpPr>
        <p:spPr>
          <a:xfrm>
            <a:off x="4753054" y="1282446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4977" y="1296162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已登记培训记录: 28</a:t>
            </a:r>
            <a:endParaRPr lang="en-US" sz="450" dirty="0"/>
          </a:p>
        </p:txBody>
      </p:sp>
      <p:sp>
        <p:nvSpPr>
          <p:cNvPr id="24" name="Shape 22"/>
          <p:cNvSpPr/>
          <p:nvPr/>
        </p:nvSpPr>
        <p:spPr>
          <a:xfrm>
            <a:off x="6266531" y="582930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215" y="665226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运行部级培训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437215" y="82296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计划/记录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6437215" y="966978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8 | 记录 12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437215" y="1145286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运行部年度: 3 | 运行部月度: 5</a:t>
            </a:r>
            <a:endParaRPr lang="en-US" sz="488" dirty="0"/>
          </a:p>
        </p:txBody>
      </p:sp>
      <p:sp>
        <p:nvSpPr>
          <p:cNvPr id="29" name="Shape 27"/>
          <p:cNvSpPr/>
          <p:nvPr/>
        </p:nvSpPr>
        <p:spPr>
          <a:xfrm>
            <a:off x="6437215" y="1282446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365" y="1296162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进行中计划: 2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7642486" y="1282446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4409" y="1296162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已登记培训记录: 12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9155963" y="582930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647" y="665226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班组安全活动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9326647" y="82296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活动计划</a:t>
            </a:r>
            <a:endParaRPr lang="en-US" sz="525" dirty="0"/>
          </a:p>
        </p:txBody>
      </p:sp>
      <p:sp>
        <p:nvSpPr>
          <p:cNvPr id="36" name="Text 34"/>
          <p:cNvSpPr/>
          <p:nvPr/>
        </p:nvSpPr>
        <p:spPr>
          <a:xfrm>
            <a:off x="9326647" y="966978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9326647" y="1145286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活动计划: 10 | 完成率: 50%</a:t>
            </a:r>
            <a:endParaRPr lang="en-US" sz="488" dirty="0"/>
          </a:p>
        </p:txBody>
      </p:sp>
      <p:sp>
        <p:nvSpPr>
          <p:cNvPr id="38" name="Shape 36"/>
          <p:cNvSpPr/>
          <p:nvPr/>
        </p:nvSpPr>
        <p:spPr>
          <a:xfrm>
            <a:off x="9326647" y="1282446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9797" y="1296162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已完成: 5</a:t>
            </a:r>
            <a:endParaRPr lang="en-US" sz="450" dirty="0"/>
          </a:p>
        </p:txBody>
      </p:sp>
      <p:sp>
        <p:nvSpPr>
          <p:cNvPr id="40" name="Shape 38"/>
          <p:cNvSpPr/>
          <p:nvPr/>
        </p:nvSpPr>
        <p:spPr>
          <a:xfrm>
            <a:off x="10531918" y="1282446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33840" y="1296162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超期未开展: 3</a:t>
            </a:r>
            <a:endParaRPr lang="en-US" sz="450" dirty="0"/>
          </a:p>
        </p:txBody>
      </p:sp>
      <p:sp>
        <p:nvSpPr>
          <p:cNvPr id="42" name="Shape 40"/>
          <p:cNvSpPr/>
          <p:nvPr/>
        </p:nvSpPr>
        <p:spPr>
          <a:xfrm>
            <a:off x="487668" y="1940814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52" y="2023110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线上培训与考试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658352" y="2180844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课程/考试</a:t>
            </a:r>
            <a:endParaRPr lang="en-US" sz="525" dirty="0"/>
          </a:p>
        </p:txBody>
      </p:sp>
      <p:sp>
        <p:nvSpPr>
          <p:cNvPr id="45" name="Text 43"/>
          <p:cNvSpPr/>
          <p:nvPr/>
        </p:nvSpPr>
        <p:spPr>
          <a:xfrm>
            <a:off x="658352" y="2324862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58352" y="250317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课程: 10 | 考试: 5</a:t>
            </a:r>
            <a:endParaRPr lang="en-US" sz="488" dirty="0"/>
          </a:p>
        </p:txBody>
      </p:sp>
      <p:sp>
        <p:nvSpPr>
          <p:cNvPr id="47" name="Shape 45"/>
          <p:cNvSpPr/>
          <p:nvPr/>
        </p:nvSpPr>
        <p:spPr>
          <a:xfrm>
            <a:off x="658352" y="2640330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02" y="2654046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已上线课程: 7</a:t>
            </a:r>
            <a:endParaRPr lang="en-US" sz="450" dirty="0"/>
          </a:p>
        </p:txBody>
      </p:sp>
      <p:sp>
        <p:nvSpPr>
          <p:cNvPr id="49" name="Shape 47"/>
          <p:cNvSpPr/>
          <p:nvPr/>
        </p:nvSpPr>
        <p:spPr>
          <a:xfrm>
            <a:off x="1863623" y="2640330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65545" y="2654046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待安排考试: 2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3377100" y="1940814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47783" y="2023110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证书管理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3547783" y="2180844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证书总数</a:t>
            </a:r>
            <a:endParaRPr lang="en-US" sz="525" dirty="0"/>
          </a:p>
        </p:txBody>
      </p:sp>
      <p:sp>
        <p:nvSpPr>
          <p:cNvPr id="54" name="Text 52"/>
          <p:cNvSpPr/>
          <p:nvPr/>
        </p:nvSpPr>
        <p:spPr>
          <a:xfrm>
            <a:off x="3547783" y="2324862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3547783" y="250317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有效证书: 100 | 预警: 20</a:t>
            </a:r>
            <a:endParaRPr lang="en-US" sz="488" dirty="0"/>
          </a:p>
        </p:txBody>
      </p:sp>
      <p:sp>
        <p:nvSpPr>
          <p:cNvPr id="56" name="Shape 54"/>
          <p:cNvSpPr/>
          <p:nvPr/>
        </p:nvSpPr>
        <p:spPr>
          <a:xfrm>
            <a:off x="3547783" y="2640330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20933" y="2654046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即将到期: 12</a:t>
            </a:r>
            <a:endParaRPr lang="en-US" sz="450" dirty="0"/>
          </a:p>
        </p:txBody>
      </p:sp>
      <p:sp>
        <p:nvSpPr>
          <p:cNvPr id="58" name="Shape 56"/>
          <p:cNvSpPr/>
          <p:nvPr/>
        </p:nvSpPr>
        <p:spPr>
          <a:xfrm>
            <a:off x="4753054" y="2640330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54977" y="2654046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已过期: 8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6266531" y="1940814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7215" y="2023110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培训师资管理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6437215" y="2180844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师资总数</a:t>
            </a:r>
            <a:endParaRPr lang="en-US" sz="525" dirty="0"/>
          </a:p>
        </p:txBody>
      </p:sp>
      <p:sp>
        <p:nvSpPr>
          <p:cNvPr id="63" name="Text 61"/>
          <p:cNvSpPr/>
          <p:nvPr/>
        </p:nvSpPr>
        <p:spPr>
          <a:xfrm>
            <a:off x="6437215" y="2324862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6437215" y="250317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高级: 3 | 中级: 5 | 初级: 2</a:t>
            </a:r>
            <a:endParaRPr lang="en-US" sz="488" dirty="0"/>
          </a:p>
        </p:txBody>
      </p:sp>
      <p:sp>
        <p:nvSpPr>
          <p:cNvPr id="65" name="Shape 63"/>
          <p:cNvSpPr/>
          <p:nvPr/>
        </p:nvSpPr>
        <p:spPr>
          <a:xfrm>
            <a:off x="6437215" y="2640330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10365" y="2654046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总授课课时: 30</a:t>
            </a:r>
            <a:endParaRPr lang="en-US" sz="450" dirty="0"/>
          </a:p>
        </p:txBody>
      </p:sp>
      <p:sp>
        <p:nvSpPr>
          <p:cNvPr id="67" name="Shape 65"/>
          <p:cNvSpPr/>
          <p:nvPr/>
        </p:nvSpPr>
        <p:spPr>
          <a:xfrm>
            <a:off x="7642486" y="2640330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44409" y="2654046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平均满意度: 5</a:t>
            </a:r>
            <a:endParaRPr lang="en-US" sz="450" dirty="0"/>
          </a:p>
        </p:txBody>
      </p:sp>
      <p:sp>
        <p:nvSpPr>
          <p:cNvPr id="69" name="Shape 67"/>
          <p:cNvSpPr/>
          <p:nvPr/>
        </p:nvSpPr>
        <p:spPr>
          <a:xfrm>
            <a:off x="9155963" y="1940814"/>
            <a:ext cx="2548064" cy="1165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26647" y="2023110"/>
            <a:ext cx="2206697" cy="150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一人一档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9326647" y="2180844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档案总数</a:t>
            </a:r>
            <a:endParaRPr lang="en-US" sz="525" dirty="0"/>
          </a:p>
        </p:txBody>
      </p:sp>
      <p:sp>
        <p:nvSpPr>
          <p:cNvPr id="72" name="Text 70"/>
          <p:cNvSpPr/>
          <p:nvPr/>
        </p:nvSpPr>
        <p:spPr>
          <a:xfrm>
            <a:off x="9326647" y="2324862"/>
            <a:ext cx="2206697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3200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9326647" y="2503170"/>
            <a:ext cx="2206697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人员总数: 1268 | 本年累计学时: 18624</a:t>
            </a:r>
            <a:endParaRPr lang="en-US" sz="488" dirty="0"/>
          </a:p>
        </p:txBody>
      </p:sp>
      <p:sp>
        <p:nvSpPr>
          <p:cNvPr id="74" name="Shape 72"/>
          <p:cNvSpPr/>
          <p:nvPr/>
        </p:nvSpPr>
        <p:spPr>
          <a:xfrm>
            <a:off x="9326647" y="2640330"/>
            <a:ext cx="1223071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99797" y="2654046"/>
            <a:ext cx="1121148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有效证书: 2396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10531918" y="2640330"/>
            <a:ext cx="1070187" cy="15087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BE7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633840" y="2654046"/>
            <a:ext cx="917303" cy="1234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500" dirty="0">
                <a:solidFill>
                  <a:srgbClr val="2B6B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待复审证书: 82</a:t>
            </a:r>
            <a:endParaRPr lang="en-US" sz="450" dirty="0"/>
          </a:p>
        </p:txBody>
      </p:sp>
      <p:sp>
        <p:nvSpPr>
          <p:cNvPr id="78" name="Shape 76"/>
          <p:cNvSpPr/>
          <p:nvPr/>
        </p:nvSpPr>
        <p:spPr>
          <a:xfrm>
            <a:off x="487668" y="3298698"/>
            <a:ext cx="11216360" cy="15087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02" y="3422142"/>
            <a:ext cx="6095848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企业教育培训情况统计</a:t>
            </a:r>
            <a:endParaRPr lang="en-US" sz="1013" dirty="0"/>
          </a:p>
        </p:txBody>
      </p:sp>
      <p:sp>
        <p:nvSpPr>
          <p:cNvPr id="80" name="Text 78"/>
          <p:cNvSpPr/>
          <p:nvPr/>
        </p:nvSpPr>
        <p:spPr>
          <a:xfrm>
            <a:off x="731502" y="3607308"/>
            <a:ext cx="60958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企业核心指标概览</a:t>
            </a:r>
            <a:endParaRPr lang="en-US" sz="638" dirty="0"/>
          </a:p>
        </p:txBody>
      </p:sp>
      <p:sp>
        <p:nvSpPr>
          <p:cNvPr id="81" name="Shape 79"/>
          <p:cNvSpPr/>
          <p:nvPr/>
        </p:nvSpPr>
        <p:spPr>
          <a:xfrm>
            <a:off x="6217765" y="3401568"/>
            <a:ext cx="1706837" cy="617220"/>
          </a:xfrm>
          <a:prstGeom prst="round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15298" y="3449574"/>
            <a:ext cx="1584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00" dirty="0">
                <a:solidFill>
                  <a:srgbClr val="DD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综合指标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315298" y="3607308"/>
            <a:ext cx="158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315298" y="3833622"/>
            <a:ext cx="1584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500" dirty="0">
                <a:solidFill>
                  <a:srgbClr val="DD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来自企业教育培训情况统计</a:t>
            </a:r>
            <a:endParaRPr lang="en-US" sz="525" dirty="0"/>
          </a:p>
        </p:txBody>
      </p:sp>
      <p:sp>
        <p:nvSpPr>
          <p:cNvPr id="85" name="Shape 83"/>
          <p:cNvSpPr/>
          <p:nvPr/>
        </p:nvSpPr>
        <p:spPr>
          <a:xfrm>
            <a:off x="8168436" y="3401568"/>
            <a:ext cx="1706837" cy="6172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65969" y="3435858"/>
            <a:ext cx="1560537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培训计划综合查询</a:t>
            </a:r>
            <a:endParaRPr lang="en-US" sz="563" dirty="0"/>
          </a:p>
        </p:txBody>
      </p:sp>
      <p:sp>
        <p:nvSpPr>
          <p:cNvPr id="87" name="Text 85"/>
          <p:cNvSpPr/>
          <p:nvPr/>
        </p:nvSpPr>
        <p:spPr>
          <a:xfrm>
            <a:off x="8265969" y="3607308"/>
            <a:ext cx="1560537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265969" y="3792474"/>
            <a:ext cx="156053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全部计划数</a:t>
            </a:r>
            <a:endParaRPr lang="en-US" sz="525" dirty="0"/>
          </a:p>
        </p:txBody>
      </p:sp>
      <p:sp>
        <p:nvSpPr>
          <p:cNvPr id="89" name="Shape 87"/>
          <p:cNvSpPr/>
          <p:nvPr/>
        </p:nvSpPr>
        <p:spPr>
          <a:xfrm>
            <a:off x="10119107" y="3401568"/>
            <a:ext cx="1706837" cy="6172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216641" y="3435858"/>
            <a:ext cx="1560537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培训记录综合查询</a:t>
            </a:r>
            <a:endParaRPr lang="en-US" sz="563" dirty="0"/>
          </a:p>
        </p:txBody>
      </p:sp>
      <p:sp>
        <p:nvSpPr>
          <p:cNvPr id="91" name="Text 89"/>
          <p:cNvSpPr/>
          <p:nvPr/>
        </p:nvSpPr>
        <p:spPr>
          <a:xfrm>
            <a:off x="10216641" y="3607308"/>
            <a:ext cx="1560537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0216641" y="3792474"/>
            <a:ext cx="156053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全部记录数</a:t>
            </a:r>
            <a:endParaRPr lang="en-US" sz="525" dirty="0"/>
          </a:p>
        </p:txBody>
      </p:sp>
      <p:sp>
        <p:nvSpPr>
          <p:cNvPr id="93" name="Shape 91"/>
          <p:cNvSpPr/>
          <p:nvPr/>
        </p:nvSpPr>
        <p:spPr>
          <a:xfrm>
            <a:off x="487668" y="4155948"/>
            <a:ext cx="2511489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7668" y="4155948"/>
            <a:ext cx="60958" cy="514350"/>
          </a:xfrm>
          <a:prstGeom prst="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9585" y="4224528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计划完成率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609585" y="4375404"/>
            <a:ext cx="226765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09585" y="4512564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年度培训计划执行</a:t>
            </a:r>
            <a:endParaRPr lang="en-US" sz="525" dirty="0"/>
          </a:p>
        </p:txBody>
      </p:sp>
      <p:sp>
        <p:nvSpPr>
          <p:cNvPr id="98" name="Shape 96"/>
          <p:cNvSpPr/>
          <p:nvPr/>
        </p:nvSpPr>
        <p:spPr>
          <a:xfrm>
            <a:off x="3389291" y="4155948"/>
            <a:ext cx="2511489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9291" y="4155948"/>
            <a:ext cx="60958" cy="514350"/>
          </a:xfrm>
          <a:prstGeom prst="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11208" y="4224528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培训覆盖率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3511208" y="4375404"/>
            <a:ext cx="226765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3511208" y="4512564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关键岗位覆盖</a:t>
            </a:r>
            <a:endParaRPr lang="en-US" sz="525" dirty="0"/>
          </a:p>
        </p:txBody>
      </p:sp>
      <p:sp>
        <p:nvSpPr>
          <p:cNvPr id="103" name="Shape 101"/>
          <p:cNvSpPr/>
          <p:nvPr/>
        </p:nvSpPr>
        <p:spPr>
          <a:xfrm>
            <a:off x="6290915" y="4155948"/>
            <a:ext cx="2511489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90915" y="4155948"/>
            <a:ext cx="60958" cy="514350"/>
          </a:xfrm>
          <a:prstGeom prst="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12832" y="4224528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档案更新率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6412832" y="4375404"/>
            <a:ext cx="226765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412832" y="4512564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档案维护及时</a:t>
            </a:r>
            <a:endParaRPr lang="en-US" sz="525" dirty="0"/>
          </a:p>
        </p:txBody>
      </p:sp>
      <p:sp>
        <p:nvSpPr>
          <p:cNvPr id="108" name="Shape 106"/>
          <p:cNvSpPr/>
          <p:nvPr/>
        </p:nvSpPr>
        <p:spPr>
          <a:xfrm>
            <a:off x="9192538" y="4155948"/>
            <a:ext cx="2511489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192538" y="4155948"/>
            <a:ext cx="60958" cy="514350"/>
          </a:xfrm>
          <a:prstGeom prst="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314455" y="4224528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关键岗位持证率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9314455" y="4375404"/>
            <a:ext cx="226765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97%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9314455" y="4512564"/>
            <a:ext cx="22676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取证合规达标</a:t>
            </a:r>
            <a:endParaRPr lang="en-US" sz="5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2026-03-10T06:05:00Z</dcterms:created>
  <dcterms:modified xsi:type="dcterms:W3CDTF">2026-03-10T06:05:00Z</dcterms:modified>
</cp:coreProperties>
</file>